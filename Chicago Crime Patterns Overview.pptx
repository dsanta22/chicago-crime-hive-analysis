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71" r:id="rId5"/>
    <p:sldId id="258" r:id="rId6"/>
    <p:sldId id="267" r:id="rId7"/>
    <p:sldId id="270" r:id="rId8"/>
    <p:sldId id="275" r:id="rId9"/>
    <p:sldId id="272" r:id="rId10"/>
    <p:sldId id="273" r:id="rId11"/>
    <p:sldId id="274" r:id="rId12"/>
    <p:sldId id="276" r:id="rId13"/>
    <p:sldId id="265" r:id="rId14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Open Sauce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83587-5383-C988-7C62-A802A5AE8CC6}" v="27" dt="2026-05-04T22:26:11.487"/>
    <p1510:client id="{2F2D1C5B-3726-F163-FE4C-EF24FAA31DD7}" v="1183" dt="2026-05-04T22:28:06.375"/>
    <p1510:client id="{47FF565F-996D-E563-58D0-FA8777708BF2}" v="469" dt="2026-05-04T20:38:43.458"/>
    <p1510:client id="{D3DF5A67-692D-E246-9DE4-20C9A505F294}" v="13" dt="2026-05-04T19:09:37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jpeg"/><Relationship Id="rId7" Type="http://schemas.openxmlformats.org/officeDocument/2006/relationships/hyperlink" Target="https://github.com/dsanta22/chicago-crime-hive-analysis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ata.cityofchicago.org/Public-Safety/City-of-Chicago-Crime-Data/v9q9-3dm2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image" Target="../media/image11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11.sv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9.sv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621697" y="5363738"/>
            <a:ext cx="10679707" cy="1385042"/>
            <a:chOff x="0" y="-38100"/>
            <a:chExt cx="3541440" cy="444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41440" cy="406400"/>
            </a:xfrm>
            <a:custGeom>
              <a:avLst/>
              <a:gdLst/>
              <a:ahLst/>
              <a:cxnLst/>
              <a:rect l="l" t="t" r="r" b="b"/>
              <a:pathLst>
                <a:path w="3541440" h="406400">
                  <a:moveTo>
                    <a:pt x="3338240" y="0"/>
                  </a:moveTo>
                  <a:cubicBezTo>
                    <a:pt x="3450464" y="0"/>
                    <a:pt x="3541440" y="90976"/>
                    <a:pt x="3541440" y="203200"/>
                  </a:cubicBezTo>
                  <a:cubicBezTo>
                    <a:pt x="3541440" y="315424"/>
                    <a:pt x="3450464" y="406400"/>
                    <a:pt x="33382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44073">
                    <a:alpha val="100000"/>
                  </a:srgbClr>
                </a:gs>
                <a:gs pos="100000">
                  <a:srgbClr val="78037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4144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4559681" cy="10287000"/>
            <a:chOff x="0" y="0"/>
            <a:chExt cx="1200904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0904" cy="2709333"/>
            </a:xfrm>
            <a:custGeom>
              <a:avLst/>
              <a:gdLst/>
              <a:ahLst/>
              <a:cxnLst/>
              <a:rect l="l" t="t" r="r" b="b"/>
              <a:pathLst>
                <a:path w="1200904" h="2709333">
                  <a:moveTo>
                    <a:pt x="0" y="0"/>
                  </a:moveTo>
                  <a:lnTo>
                    <a:pt x="1200904" y="0"/>
                  </a:lnTo>
                  <a:lnTo>
                    <a:pt x="120090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44073">
                    <a:alpha val="100000"/>
                  </a:srgbClr>
                </a:gs>
                <a:gs pos="100000">
                  <a:srgbClr val="78037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0090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2279840" cy="10287000"/>
            <a:chOff x="0" y="0"/>
            <a:chExt cx="600452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0452" cy="2709333"/>
            </a:xfrm>
            <a:custGeom>
              <a:avLst/>
              <a:gdLst/>
              <a:ahLst/>
              <a:cxnLst/>
              <a:rect l="l" t="t" r="r" b="b"/>
              <a:pathLst>
                <a:path w="600452" h="2709333">
                  <a:moveTo>
                    <a:pt x="0" y="0"/>
                  </a:moveTo>
                  <a:lnTo>
                    <a:pt x="600452" y="0"/>
                  </a:lnTo>
                  <a:lnTo>
                    <a:pt x="60045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0045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19760" y="6623507"/>
            <a:ext cx="2279840" cy="4233119"/>
            <a:chOff x="0" y="0"/>
            <a:chExt cx="600452" cy="11148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0452" cy="1114896"/>
            </a:xfrm>
            <a:custGeom>
              <a:avLst/>
              <a:gdLst/>
              <a:ahLst/>
              <a:cxnLst/>
              <a:rect l="l" t="t" r="r" b="b"/>
              <a:pathLst>
                <a:path w="600452" h="1114896">
                  <a:moveTo>
                    <a:pt x="0" y="0"/>
                  </a:moveTo>
                  <a:lnTo>
                    <a:pt x="600452" y="0"/>
                  </a:lnTo>
                  <a:lnTo>
                    <a:pt x="600452" y="1114896"/>
                  </a:lnTo>
                  <a:lnTo>
                    <a:pt x="0" y="1114896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00452" cy="1152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009395" y="5401996"/>
            <a:ext cx="2279840" cy="4848806"/>
            <a:chOff x="0" y="-38100"/>
            <a:chExt cx="600452" cy="12770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0452" cy="1238952"/>
            </a:xfrm>
            <a:custGeom>
              <a:avLst/>
              <a:gdLst/>
              <a:ahLst/>
              <a:cxnLst/>
              <a:rect l="l" t="t" r="r" b="b"/>
              <a:pathLst>
                <a:path w="600452" h="1238952">
                  <a:moveTo>
                    <a:pt x="0" y="0"/>
                  </a:moveTo>
                  <a:lnTo>
                    <a:pt x="600452" y="0"/>
                  </a:lnTo>
                  <a:lnTo>
                    <a:pt x="600452" y="1238952"/>
                  </a:lnTo>
                  <a:lnTo>
                    <a:pt x="0" y="1238952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00452" cy="1277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50332" y="2234151"/>
            <a:ext cx="5818698" cy="581869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3714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 flipH="1">
            <a:off x="-1283697" y="805284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flipH="1">
            <a:off x="14185708" y="-172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06" y="514203"/>
            <a:ext cx="2623170" cy="859088"/>
          </a:xfrm>
          <a:custGeom>
            <a:avLst/>
            <a:gdLst/>
            <a:ahLst/>
            <a:cxnLst/>
            <a:rect l="l" t="t" r="r" b="b"/>
            <a:pathLst>
              <a:path w="2623170" h="859088">
                <a:moveTo>
                  <a:pt x="0" y="0"/>
                </a:moveTo>
                <a:lnTo>
                  <a:pt x="2623170" y="0"/>
                </a:lnTo>
                <a:lnTo>
                  <a:pt x="2623170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8093937" y="2417834"/>
            <a:ext cx="11770549" cy="795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76"/>
              </a:lnSpc>
              <a:spcBef>
                <a:spcPct val="0"/>
              </a:spcBef>
            </a:pPr>
            <a:r>
              <a:rPr lang="en-US" sz="4697" b="1">
                <a:solidFill>
                  <a:schemeClr val="bg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ANALYZING CRIME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27981" y="3558559"/>
            <a:ext cx="8903920" cy="79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76"/>
              </a:lnSpc>
              <a:spcBef>
                <a:spcPct val="0"/>
              </a:spcBef>
            </a:pPr>
            <a:r>
              <a:rPr lang="en-US" sz="4650" b="1" dirty="0">
                <a:solidFill>
                  <a:schemeClr val="bg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</a:t>
            </a:r>
            <a:r>
              <a:rPr lang="en-US" sz="4650" b="1">
                <a:solidFill>
                  <a:schemeClr val="bg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THE CITY OF </a:t>
            </a:r>
            <a:r>
              <a:rPr lang="en-US" sz="4650" b="1" dirty="0">
                <a:solidFill>
                  <a:schemeClr val="bg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CHICAGO</a:t>
            </a:r>
            <a:endParaRPr lang="en-US" sz="4697" b="1">
              <a:solidFill>
                <a:schemeClr val="bg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788654" y="5889371"/>
            <a:ext cx="8732100" cy="742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48"/>
              </a:lnSpc>
              <a:spcBef>
                <a:spcPct val="0"/>
              </a:spcBef>
            </a:pPr>
            <a:r>
              <a:rPr lang="en-US" sz="21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4: Danielle Santamaria, Liliana Sifuentes, Ngoc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Nguyen </a:t>
            </a:r>
          </a:p>
          <a:p>
            <a:pPr algn="ctr">
              <a:lnSpc>
                <a:spcPts val="3048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</a:rPr>
              <a:t>CIS 5200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96443" y="8455217"/>
            <a:ext cx="2280224" cy="280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3"/>
              </a:lnSpc>
              <a:spcBef>
                <a:spcPct val="0"/>
              </a:spcBef>
            </a:pPr>
            <a:r>
              <a:rPr lang="en-US" sz="17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5260" y="2567911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395292" y="3224381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395292" y="4452074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395292" y="5141423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6760615" cy="10287000"/>
            <a:chOff x="0" y="0"/>
            <a:chExt cx="1047396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7396" cy="1593725"/>
            </a:xfrm>
            <a:custGeom>
              <a:avLst/>
              <a:gdLst/>
              <a:ahLst/>
              <a:cxnLst/>
              <a:rect l="l" t="t" r="r" b="b"/>
              <a:pathLst>
                <a:path w="1047396" h="1593725">
                  <a:moveTo>
                    <a:pt x="0" y="0"/>
                  </a:moveTo>
                  <a:lnTo>
                    <a:pt x="1047396" y="0"/>
                  </a:lnTo>
                  <a:lnTo>
                    <a:pt x="104739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1259" r="-12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49825" y="0"/>
            <a:ext cx="4295702" cy="10287000"/>
            <a:chOff x="0" y="0"/>
            <a:chExt cx="1131378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1378" cy="2709333"/>
            </a:xfrm>
            <a:custGeom>
              <a:avLst/>
              <a:gdLst/>
              <a:ahLst/>
              <a:cxnLst/>
              <a:rect l="l" t="t" r="r" b="b"/>
              <a:pathLst>
                <a:path w="1131378" h="2709333">
                  <a:moveTo>
                    <a:pt x="0" y="0"/>
                  </a:moveTo>
                  <a:lnTo>
                    <a:pt x="1131378" y="0"/>
                  </a:lnTo>
                  <a:lnTo>
                    <a:pt x="113137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137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80143" y="4076727"/>
            <a:ext cx="960945" cy="6492049"/>
            <a:chOff x="0" y="0"/>
            <a:chExt cx="253088" cy="1709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3088" cy="1709840"/>
            </a:xfrm>
            <a:custGeom>
              <a:avLst/>
              <a:gdLst/>
              <a:ahLst/>
              <a:cxnLst/>
              <a:rect l="l" t="t" r="r" b="b"/>
              <a:pathLst>
                <a:path w="253088" h="1709840">
                  <a:moveTo>
                    <a:pt x="0" y="0"/>
                  </a:moveTo>
                  <a:lnTo>
                    <a:pt x="253088" y="0"/>
                  </a:lnTo>
                  <a:lnTo>
                    <a:pt x="253088" y="1709840"/>
                  </a:lnTo>
                  <a:lnTo>
                    <a:pt x="0" y="1709840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53088" cy="1747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15371805" y="82252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6279249" y="463081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232706" y="356767"/>
            <a:ext cx="8953463" cy="100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2"/>
              </a:lnSpc>
              <a:spcBef>
                <a:spcPct val="0"/>
              </a:spcBef>
            </a:pPr>
            <a:r>
              <a:rPr lang="en-US" sz="590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88457" y="1334361"/>
            <a:ext cx="8953463" cy="100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2"/>
              </a:lnSpc>
              <a:spcBef>
                <a:spcPct val="0"/>
              </a:spcBef>
            </a:pPr>
            <a:r>
              <a:rPr lang="en-US" sz="590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SPECIFICATIONS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16549" y="2356471"/>
            <a:ext cx="9687605" cy="7063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  <a:sym typeface="Canva Sans Bold"/>
              </a:rPr>
              <a:t>Data Size: 2.02 GB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  <a:latin typeface="Canva Sans"/>
                <a:ea typeface="Calibri"/>
                <a:cs typeface="Calibri"/>
              </a:rPr>
              <a:t>Data Source URL :</a:t>
            </a:r>
            <a:r>
              <a:rPr lang="en-US" sz="2800" dirty="0">
                <a:solidFill>
                  <a:srgbClr val="BFCBFF"/>
                </a:solidFill>
                <a:latin typeface="Canva Sans"/>
                <a:ea typeface="Calibri"/>
                <a:cs typeface="Calibri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libri"/>
                <a:cs typeface="Calibri"/>
                <a:hlinkClick r:id="rId6"/>
              </a:rPr>
              <a:t>City of Chicago Crime Data | City of Chicago | Data Portal</a:t>
            </a:r>
            <a:endParaRPr lang="en-US" sz="2800">
              <a:solidFill>
                <a:srgbClr val="000000"/>
              </a:solidFill>
              <a:latin typeface="Canva Sans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Data Format: CSV Number of Records: ~8+ million rows</a:t>
            </a:r>
            <a:endParaRPr lang="en-US" sz="2800" dirty="0">
              <a:solidFill>
                <a:schemeClr val="bg1"/>
              </a:solidFill>
              <a:latin typeface="Canva Sans"/>
            </a:endParaRPr>
          </a:p>
          <a:p>
            <a:pPr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  <a:sym typeface="Canva Sans Bold"/>
              </a:rPr>
              <a:t>Hadoop Version: 3.4.1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  <a:sym typeface="Canva Sans Bold"/>
              </a:rPr>
              <a:t>Hive Version: 3.1.3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  <a:sym typeface="Canva Sans Bold"/>
              </a:rPr>
              <a:t>Cluster Configuration: 5 Nodes Total, 2 Master Nodes &amp; 3 </a:t>
            </a:r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  <a:sym typeface="Canva Sans Bold"/>
              </a:rPr>
              <a:t>Worker Nodes</a:t>
            </a:r>
            <a:endParaRPr lang="en-US" sz="2800" dirty="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  <a:sym typeface="Canva Sans Bold"/>
              </a:rPr>
              <a:t>Hardware Specifications: CPU: AMD EPYC 7J13 ~2.45 </a:t>
            </a: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  <a:sym typeface="Canva Sans Bold"/>
              </a:rPr>
              <a:t>GHz, 6 vCPUs per node. Memory: ~32 GB RAM per node</a:t>
            </a:r>
            <a:endParaRPr lang="en-US" sz="2800">
              <a:solidFill>
                <a:srgbClr val="FFFFFF"/>
              </a:solidFill>
              <a:latin typeface="Canva Sans"/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800" dirty="0" err="1">
                <a:solidFill>
                  <a:schemeClr val="bg1"/>
                </a:solidFill>
                <a:latin typeface="Canva Sans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Canva Sans"/>
              </a:rPr>
              <a:t> link:</a:t>
            </a:r>
            <a:r>
              <a:rPr lang="en-US" sz="2800" dirty="0">
                <a:solidFill>
                  <a:srgbClr val="BFCBFF"/>
                </a:solidFill>
                <a:latin typeface="Canva Sans"/>
              </a:rPr>
              <a:t> </a:t>
            </a:r>
            <a:r>
              <a:rPr lang="en-US" sz="2800" dirty="0">
                <a:solidFill>
                  <a:srgbClr val="BFCBFF"/>
                </a:solidFill>
                <a:latin typeface="Canva Sans"/>
                <a:hlinkClick r:id="rId7"/>
              </a:rPr>
              <a:t>dsanta22-chicago-crime-hive-analysis</a:t>
            </a:r>
            <a:endParaRPr lang="en-US">
              <a:solidFill>
                <a:srgbClr val="BFCBFF"/>
              </a:solidFill>
              <a:latin typeface="Canva Sans"/>
              <a:hlinkClick r:id="rId7"/>
            </a:endParaRP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245C38B7-7615-8EA1-1978-F33BFAB52120}"/>
              </a:ext>
            </a:extLst>
          </p:cNvPr>
          <p:cNvSpPr/>
          <p:nvPr/>
        </p:nvSpPr>
        <p:spPr>
          <a:xfrm>
            <a:off x="7392566" y="6451376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60481A68-A165-EC9D-6841-58849F597F78}"/>
              </a:ext>
            </a:extLst>
          </p:cNvPr>
          <p:cNvSpPr/>
          <p:nvPr/>
        </p:nvSpPr>
        <p:spPr>
          <a:xfrm>
            <a:off x="7392566" y="7667743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3BE7BB8F-F071-DFE7-647F-166FC74CD0B7}"/>
              </a:ext>
            </a:extLst>
          </p:cNvPr>
          <p:cNvSpPr/>
          <p:nvPr/>
        </p:nvSpPr>
        <p:spPr>
          <a:xfrm>
            <a:off x="7392566" y="8960660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4D244089-CDEC-2D83-B745-FAEAD08933EB}"/>
              </a:ext>
            </a:extLst>
          </p:cNvPr>
          <p:cNvSpPr/>
          <p:nvPr/>
        </p:nvSpPr>
        <p:spPr>
          <a:xfrm>
            <a:off x="7392566" y="8352587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3041BE02-6DB9-F215-1C98-DE3E73EBE568}"/>
              </a:ext>
            </a:extLst>
          </p:cNvPr>
          <p:cNvSpPr/>
          <p:nvPr/>
        </p:nvSpPr>
        <p:spPr>
          <a:xfrm>
            <a:off x="7395292" y="5735410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5122A-5885-8F90-F580-6F6F7935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632985-EBDC-F6B3-0212-EFEB4C91C1A0}"/>
              </a:ext>
            </a:extLst>
          </p:cNvPr>
          <p:cNvSpPr/>
          <p:nvPr/>
        </p:nvSpPr>
        <p:spPr>
          <a:xfrm>
            <a:off x="8229600" y="3960836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AC15F66-5410-85B8-93AF-95AA12F6AD50}"/>
              </a:ext>
            </a:extLst>
          </p:cNvPr>
          <p:cNvSpPr/>
          <p:nvPr/>
        </p:nvSpPr>
        <p:spPr>
          <a:xfrm>
            <a:off x="8229600" y="4530479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17B00BF-BFF4-4E75-18C1-F52802CC1AF6}"/>
              </a:ext>
            </a:extLst>
          </p:cNvPr>
          <p:cNvSpPr/>
          <p:nvPr/>
        </p:nvSpPr>
        <p:spPr>
          <a:xfrm>
            <a:off x="8229600" y="5100122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274397B-6C58-1975-EB80-86D1066E370B}"/>
              </a:ext>
            </a:extLst>
          </p:cNvPr>
          <p:cNvSpPr/>
          <p:nvPr/>
        </p:nvSpPr>
        <p:spPr>
          <a:xfrm>
            <a:off x="8229600" y="5669765"/>
            <a:ext cx="323353" cy="323353"/>
          </a:xfrm>
          <a:custGeom>
            <a:avLst/>
            <a:gdLst/>
            <a:ahLst/>
            <a:cxnLst/>
            <a:rect l="l" t="t" r="r" b="b"/>
            <a:pathLst>
              <a:path w="323353" h="323353">
                <a:moveTo>
                  <a:pt x="0" y="0"/>
                </a:moveTo>
                <a:lnTo>
                  <a:pt x="323352" y="0"/>
                </a:lnTo>
                <a:lnTo>
                  <a:pt x="323352" y="323353"/>
                </a:lnTo>
                <a:lnTo>
                  <a:pt x="0" y="32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55F7A50-8F6C-9684-F8B3-2975ED4206E5}"/>
              </a:ext>
            </a:extLst>
          </p:cNvPr>
          <p:cNvGrpSpPr/>
          <p:nvPr/>
        </p:nvGrpSpPr>
        <p:grpSpPr>
          <a:xfrm>
            <a:off x="17649825" y="0"/>
            <a:ext cx="4295702" cy="10287000"/>
            <a:chOff x="0" y="0"/>
            <a:chExt cx="1131378" cy="270933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899E7E4-40E1-6167-805E-C0745B991976}"/>
                </a:ext>
              </a:extLst>
            </p:cNvPr>
            <p:cNvSpPr/>
            <p:nvPr/>
          </p:nvSpPr>
          <p:spPr>
            <a:xfrm>
              <a:off x="0" y="0"/>
              <a:ext cx="1131378" cy="2709333"/>
            </a:xfrm>
            <a:custGeom>
              <a:avLst/>
              <a:gdLst/>
              <a:ahLst/>
              <a:cxnLst/>
              <a:rect l="l" t="t" r="r" b="b"/>
              <a:pathLst>
                <a:path w="1131378" h="2709333">
                  <a:moveTo>
                    <a:pt x="0" y="0"/>
                  </a:moveTo>
                  <a:lnTo>
                    <a:pt x="1131378" y="0"/>
                  </a:lnTo>
                  <a:lnTo>
                    <a:pt x="113137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1E39E56-B630-0292-1F77-E58E23056B4C}"/>
                </a:ext>
              </a:extLst>
            </p:cNvPr>
            <p:cNvSpPr txBox="1"/>
            <p:nvPr/>
          </p:nvSpPr>
          <p:spPr>
            <a:xfrm>
              <a:off x="0" y="-38100"/>
              <a:ext cx="113137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10DDD5A-65B9-297F-98A9-67463770A0D5}"/>
              </a:ext>
            </a:extLst>
          </p:cNvPr>
          <p:cNvGrpSpPr/>
          <p:nvPr/>
        </p:nvGrpSpPr>
        <p:grpSpPr>
          <a:xfrm>
            <a:off x="6280143" y="4076727"/>
            <a:ext cx="960945" cy="6492049"/>
            <a:chOff x="0" y="0"/>
            <a:chExt cx="253088" cy="170984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505B5B-405E-09AE-64D8-309C0F3F6441}"/>
                </a:ext>
              </a:extLst>
            </p:cNvPr>
            <p:cNvSpPr/>
            <p:nvPr/>
          </p:nvSpPr>
          <p:spPr>
            <a:xfrm>
              <a:off x="0" y="0"/>
              <a:ext cx="253088" cy="1709840"/>
            </a:xfrm>
            <a:custGeom>
              <a:avLst/>
              <a:gdLst/>
              <a:ahLst/>
              <a:cxnLst/>
              <a:rect l="l" t="t" r="r" b="b"/>
              <a:pathLst>
                <a:path w="253088" h="1709840">
                  <a:moveTo>
                    <a:pt x="0" y="0"/>
                  </a:moveTo>
                  <a:lnTo>
                    <a:pt x="253088" y="0"/>
                  </a:lnTo>
                  <a:lnTo>
                    <a:pt x="253088" y="1709840"/>
                  </a:lnTo>
                  <a:lnTo>
                    <a:pt x="0" y="1709840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508A3B4-68FA-2495-BD71-B77D1C3FE81D}"/>
                </a:ext>
              </a:extLst>
            </p:cNvPr>
            <p:cNvSpPr txBox="1"/>
            <p:nvPr/>
          </p:nvSpPr>
          <p:spPr>
            <a:xfrm>
              <a:off x="0" y="-38100"/>
              <a:ext cx="253088" cy="1747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08BF12AE-1718-77A0-4ADF-3DB27A2B9A0E}"/>
              </a:ext>
            </a:extLst>
          </p:cNvPr>
          <p:cNvSpPr/>
          <p:nvPr/>
        </p:nvSpPr>
        <p:spPr>
          <a:xfrm flipH="1">
            <a:off x="15201900" y="770780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3A154B5-79FF-A304-8429-9D8B1B699D2D}"/>
              </a:ext>
            </a:extLst>
          </p:cNvPr>
          <p:cNvSpPr txBox="1"/>
          <p:nvPr/>
        </p:nvSpPr>
        <p:spPr>
          <a:xfrm>
            <a:off x="2530561" y="425145"/>
            <a:ext cx="14401800" cy="1000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72"/>
              </a:lnSpc>
              <a:spcBef>
                <a:spcPct val="0"/>
              </a:spcBef>
            </a:pPr>
            <a:r>
              <a:rPr lang="en-US" sz="59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SPECIFICATIONS  </a:t>
            </a:r>
            <a:endParaRPr lang="en-US" sz="5908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D1C74E-41D6-F8D2-FA39-435EA6BB9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378" y="1695522"/>
            <a:ext cx="14413964" cy="8273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22">
            <a:extLst>
              <a:ext uri="{FF2B5EF4-FFF2-40B4-BE49-F238E27FC236}">
                <a16:creationId xmlns:a16="http://schemas.microsoft.com/office/drawing/2014/main" id="{8A00477B-8E5E-4876-BA3A-56BBA67C2FBC}"/>
              </a:ext>
            </a:extLst>
          </p:cNvPr>
          <p:cNvSpPr/>
          <p:nvPr/>
        </p:nvSpPr>
        <p:spPr>
          <a:xfrm>
            <a:off x="-369296" y="568264"/>
            <a:ext cx="2623170" cy="859088"/>
          </a:xfrm>
          <a:custGeom>
            <a:avLst/>
            <a:gdLst/>
            <a:ahLst/>
            <a:cxnLst/>
            <a:rect l="l" t="t" r="r" b="b"/>
            <a:pathLst>
              <a:path w="2623170" h="859088">
                <a:moveTo>
                  <a:pt x="0" y="0"/>
                </a:moveTo>
                <a:lnTo>
                  <a:pt x="2623170" y="0"/>
                </a:lnTo>
                <a:lnTo>
                  <a:pt x="2623170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2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D58B8-59E3-7473-D7F7-32EF9581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>
            <a:extLst>
              <a:ext uri="{FF2B5EF4-FFF2-40B4-BE49-F238E27FC236}">
                <a16:creationId xmlns:a16="http://schemas.microsoft.com/office/drawing/2014/main" id="{598628AD-4692-6A96-2BE4-BF57FAE10045}"/>
              </a:ext>
            </a:extLst>
          </p:cNvPr>
          <p:cNvSpPr/>
          <p:nvPr/>
        </p:nvSpPr>
        <p:spPr>
          <a:xfrm flipH="1">
            <a:off x="14811104" y="-26221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0BABC62-8AFD-CAA5-5DE9-28C844577BD8}"/>
              </a:ext>
            </a:extLst>
          </p:cNvPr>
          <p:cNvSpPr/>
          <p:nvPr/>
        </p:nvSpPr>
        <p:spPr>
          <a:xfrm>
            <a:off x="2567" y="225873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F084F33-9ABE-2939-4572-4C5B6CD2F874}"/>
              </a:ext>
            </a:extLst>
          </p:cNvPr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687A317-5CD4-EAD6-8600-F16BDB154467}"/>
                </a:ext>
              </a:extLst>
            </p:cNvPr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B0C124A-1C78-0EA3-E373-694645C06F72}"/>
                </a:ext>
              </a:extLst>
            </p:cNvPr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pic>
        <p:nvPicPr>
          <p:cNvPr id="2" name="Picture 1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27831E09-3480-5B03-CD19-08A8EDFB1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91" y="367098"/>
            <a:ext cx="13634137" cy="908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97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5657" y="708670"/>
            <a:ext cx="16644097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72"/>
              </a:lnSpc>
              <a:spcBef>
                <a:spcPct val="0"/>
              </a:spcBef>
            </a:pPr>
            <a:r>
              <a:rPr lang="en-US" sz="5900" b="1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CRIME HOTSPOTS IN CHICAGO HEATMAP</a:t>
            </a:r>
            <a:endParaRPr lang="en-US" sz="5900" b="1">
              <a:solidFill>
                <a:srgbClr val="FFFFFF"/>
              </a:solidFill>
              <a:latin typeface="Canva Sans"/>
              <a:ea typeface="Open Sauce Bold"/>
              <a:cs typeface="Open Sauce Bold"/>
            </a:endParaRPr>
          </a:p>
        </p:txBody>
      </p:sp>
      <p:sp>
        <p:nvSpPr>
          <p:cNvPr id="14" name="Freeform 14"/>
          <p:cNvSpPr/>
          <p:nvPr/>
        </p:nvSpPr>
        <p:spPr>
          <a:xfrm flipH="1">
            <a:off x="14811104" y="-26221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-624562" y="772160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FB0DB9-2850-4118-9C2E-3A69A5133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04" y="2095500"/>
            <a:ext cx="15451977" cy="567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F9119C-434C-64A3-83AE-78AFE6CD39B5}"/>
              </a:ext>
            </a:extLst>
          </p:cNvPr>
          <p:cNvSpPr txBox="1"/>
          <p:nvPr/>
        </p:nvSpPr>
        <p:spPr>
          <a:xfrm>
            <a:off x="0" y="7939768"/>
            <a:ext cx="1753280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Canva Sans"/>
                <a:ea typeface="Calibri"/>
                <a:cs typeface="Calibri"/>
              </a:rPr>
              <a:t>Darker</a:t>
            </a: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 colors = higher crime frequency. 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pPr algn="ctr"/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FDB0E-AD73-3C67-3CA7-9AB3186FCBDB}"/>
              </a:ext>
            </a:extLst>
          </p:cNvPr>
          <p:cNvSpPr txBox="1"/>
          <p:nvPr/>
        </p:nvSpPr>
        <p:spPr>
          <a:xfrm>
            <a:off x="7225393" y="7939766"/>
            <a:ext cx="1251857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en-US" sz="2800" b="0" i="0">
                <a:solidFill>
                  <a:schemeClr val="bg1"/>
                </a:solidFill>
                <a:latin typeface="Canva Sans"/>
                <a:ea typeface="Arial"/>
                <a:cs typeface="Arial"/>
              </a:rPr>
              <a:t>​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6A5FF-0485-C1F5-C9F3-B776B76AA933}"/>
              </a:ext>
            </a:extLst>
          </p:cNvPr>
          <p:cNvSpPr txBox="1"/>
          <p:nvPr/>
        </p:nvSpPr>
        <p:spPr>
          <a:xfrm>
            <a:off x="-1" y="8477251"/>
            <a:ext cx="1253217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+mn-lt"/>
                <a:cs typeface="+mn-lt"/>
              </a:rPr>
              <a:t>Theft, battery, and criminal damage appear most frequently </a:t>
            </a:r>
            <a:endParaRPr lang="en-US" sz="2800" dirty="0">
              <a:solidFill>
                <a:srgbClr val="FFFFFF"/>
              </a:solidFill>
              <a:latin typeface="Canva Sans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7C6D3-BE0B-2007-49B7-055B4632A932}"/>
              </a:ext>
            </a:extLst>
          </p:cNvPr>
          <p:cNvSpPr txBox="1"/>
          <p:nvPr/>
        </p:nvSpPr>
        <p:spPr>
          <a:xfrm>
            <a:off x="0" y="9055554"/>
            <a:ext cx="1627414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+mn-lt"/>
                <a:cs typeface="+mn-lt"/>
              </a:rPr>
              <a:t>Crime levels vary across years and categories </a:t>
            </a:r>
            <a:endParaRPr lang="en-US" sz="2800" dirty="0">
              <a:solidFill>
                <a:srgbClr val="FFFFFF"/>
              </a:solidFill>
              <a:latin typeface="Canva Sans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D4756-AC31-EEC8-4EDD-2F18EAA8EC56}"/>
              </a:ext>
            </a:extLst>
          </p:cNvPr>
          <p:cNvSpPr txBox="1"/>
          <p:nvPr/>
        </p:nvSpPr>
        <p:spPr>
          <a:xfrm>
            <a:off x="1" y="9593036"/>
            <a:ext cx="1321253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+mn-lt"/>
                <a:cs typeface="+mn-lt"/>
              </a:rPr>
              <a:t>Some crimes decrease over time while others remain consistent </a:t>
            </a:r>
            <a:endParaRPr lang="en-US" sz="2800" dirty="0">
              <a:solidFill>
                <a:srgbClr val="FFFFFF"/>
              </a:solidFill>
              <a:latin typeface="Canva Sans"/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D58B8-59E3-7473-D7F7-32EF9581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1066F04-7EE7-E610-2D00-AB9F4AF06AE4}"/>
              </a:ext>
            </a:extLst>
          </p:cNvPr>
          <p:cNvSpPr txBox="1"/>
          <p:nvPr/>
        </p:nvSpPr>
        <p:spPr>
          <a:xfrm>
            <a:off x="1184448" y="272852"/>
            <a:ext cx="7830479" cy="100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2"/>
              </a:lnSpc>
              <a:spcBef>
                <a:spcPct val="0"/>
              </a:spcBef>
            </a:pPr>
            <a:r>
              <a:rPr lang="en-US" sz="5900" b="1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CRIME VOLUME</a:t>
            </a:r>
            <a:endParaRPr lang="en-US" sz="5900" b="1">
              <a:solidFill>
                <a:srgbClr val="FFFFFF"/>
              </a:solidFill>
              <a:latin typeface="Canva Sans"/>
              <a:ea typeface="Open Sauce Bold"/>
              <a:cs typeface="Open Sauce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1076B8-D8D0-15FD-6A6C-855997A8239C}"/>
              </a:ext>
            </a:extLst>
          </p:cNvPr>
          <p:cNvSpPr txBox="1"/>
          <p:nvPr/>
        </p:nvSpPr>
        <p:spPr>
          <a:xfrm>
            <a:off x="7123339" y="275687"/>
            <a:ext cx="7830479" cy="100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2"/>
              </a:lnSpc>
              <a:spcBef>
                <a:spcPct val="0"/>
              </a:spcBef>
            </a:pPr>
            <a:r>
              <a:rPr lang="en-US" sz="5900" b="1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KEY STATISTICS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99F58FE-5643-E309-4678-0D15B99447CA}"/>
              </a:ext>
            </a:extLst>
          </p:cNvPr>
          <p:cNvSpPr txBox="1"/>
          <p:nvPr/>
        </p:nvSpPr>
        <p:spPr>
          <a:xfrm>
            <a:off x="8487685" y="7516622"/>
            <a:ext cx="3221318" cy="29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4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1053858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A2748F7-1094-68CD-D3BF-CB88ABBFC009}"/>
              </a:ext>
            </a:extLst>
          </p:cNvPr>
          <p:cNvSpPr txBox="1"/>
          <p:nvPr/>
        </p:nvSpPr>
        <p:spPr>
          <a:xfrm>
            <a:off x="7282503" y="6941192"/>
            <a:ext cx="2412140" cy="86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2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BFCB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reported </a:t>
            </a:r>
            <a:r>
              <a:rPr lang="en-US" sz="2500" b="1">
                <a:solidFill>
                  <a:srgbClr val="BFCB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crimes</a:t>
            </a:r>
            <a:endParaRPr lang="en-US" sz="2500" b="1" dirty="0">
              <a:solidFill>
                <a:srgbClr val="BFCB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EC5B62F-2533-AAA5-3F95-49859BD9A6A3}"/>
              </a:ext>
            </a:extLst>
          </p:cNvPr>
          <p:cNvSpPr txBox="1"/>
          <p:nvPr/>
        </p:nvSpPr>
        <p:spPr>
          <a:xfrm>
            <a:off x="11227254" y="6939996"/>
            <a:ext cx="3221318" cy="86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2"/>
              </a:lnSpc>
              <a:spcBef>
                <a:spcPct val="0"/>
              </a:spcBef>
            </a:pPr>
            <a:r>
              <a:rPr lang="en-US" sz="2500" b="1">
                <a:solidFill>
                  <a:srgbClr val="BFCB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 frequent crime category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98628AD-4692-6A96-2BE4-BF57FAE10045}"/>
              </a:ext>
            </a:extLst>
          </p:cNvPr>
          <p:cNvSpPr/>
          <p:nvPr/>
        </p:nvSpPr>
        <p:spPr>
          <a:xfrm flipH="1">
            <a:off x="14811104" y="-26221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0BABC62-8AFD-CAA5-5DE9-28C844577BD8}"/>
              </a:ext>
            </a:extLst>
          </p:cNvPr>
          <p:cNvSpPr/>
          <p:nvPr/>
        </p:nvSpPr>
        <p:spPr>
          <a:xfrm>
            <a:off x="-610955" y="343535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F084F33-9ABE-2939-4572-4C5B6CD2F874}"/>
              </a:ext>
            </a:extLst>
          </p:cNvPr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687A317-5CD4-EAD6-8600-F16BDB154467}"/>
                </a:ext>
              </a:extLst>
            </p:cNvPr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B0C124A-1C78-0EA3-E373-694645C06F72}"/>
                </a:ext>
              </a:extLst>
            </p:cNvPr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id="{30E2D43C-47C1-CFA0-0848-C913B3C2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005" y="1490268"/>
            <a:ext cx="4030640" cy="75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85894FE-35E9-8C7D-A839-245FB86E9EA8}"/>
              </a:ext>
            </a:extLst>
          </p:cNvPr>
          <p:cNvSpPr txBox="1"/>
          <p:nvPr/>
        </p:nvSpPr>
        <p:spPr>
          <a:xfrm>
            <a:off x="12714560" y="7471914"/>
            <a:ext cx="9768176" cy="3870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0" indent="0" algn="l">
              <a:lnSpc>
                <a:spcPts val="2104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nva Sans"/>
              </a:rPr>
              <a:t>Theft</a:t>
            </a:r>
            <a:endParaRPr lang="en-US" sz="2800" dirty="0">
              <a:solidFill>
                <a:srgbClr val="FFFFFF"/>
              </a:solidFill>
              <a:latin typeface="Canva Sa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3E745C-DC85-EE06-622A-B55BC6C0545F}"/>
              </a:ext>
            </a:extLst>
          </p:cNvPr>
          <p:cNvSpPr txBox="1"/>
          <p:nvPr/>
        </p:nvSpPr>
        <p:spPr>
          <a:xfrm>
            <a:off x="6724650" y="1666440"/>
            <a:ext cx="1066527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This summarized heat map highlights overall crime frequency by category, showing which crimes occur most frequently overall.</a:t>
            </a:r>
            <a:endParaRPr lang="en-US" sz="2800" dirty="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1FF577-AF91-3B70-5383-F4F19E2104B0}"/>
              </a:ext>
            </a:extLst>
          </p:cNvPr>
          <p:cNvSpPr txBox="1"/>
          <p:nvPr/>
        </p:nvSpPr>
        <p:spPr>
          <a:xfrm>
            <a:off x="6542314" y="3300677"/>
            <a:ext cx="11745248" cy="32551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Theft is the most common crime across all years and </a:t>
            </a:r>
            <a:r>
              <a:rPr lang="en-US" sz="2800">
                <a:solidFill>
                  <a:srgbClr val="FFFFFF"/>
                </a:solidFill>
                <a:latin typeface="Canva Sans"/>
                <a:ea typeface="+mn-lt"/>
                <a:cs typeface="+mn-lt"/>
                <a:sym typeface="Canva Sans"/>
              </a:rPr>
              <a:t>shows consistently high counts compared to other crimes</a:t>
            </a:r>
            <a:endParaRPr lang="en-US" sz="2800">
              <a:solidFill>
                <a:srgbClr val="000000"/>
              </a:solidFill>
              <a:latin typeface="Canva Sans"/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+mn-lt"/>
                <a:cs typeface="+mn-lt"/>
              </a:rPr>
              <a:t>Battery and criminal damage are also highly frequent</a:t>
            </a:r>
            <a:endParaRPr lang="en-US" sz="2800">
              <a:solidFill>
                <a:srgbClr val="000000"/>
              </a:solidFill>
              <a:latin typeface="Canva Sans"/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+mn-lt"/>
                <a:cs typeface="+mn-lt"/>
              </a:rPr>
              <a:t>Some crime categories show a decrease in later years</a:t>
            </a:r>
            <a:endParaRPr lang="en-US" sz="2800">
              <a:solidFill>
                <a:srgbClr val="000000"/>
              </a:solidFill>
              <a:latin typeface="Canva Sans"/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+mn-lt"/>
                <a:cs typeface="+mn-lt"/>
              </a:rPr>
              <a:t>The data helps identify which crimes require more attention</a:t>
            </a:r>
            <a:endParaRPr lang="en-US" sz="2800">
              <a:latin typeface="Canva San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8667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D58B8-59E3-7473-D7F7-32EF9581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1066F04-7EE7-E610-2D00-AB9F4AF06AE4}"/>
              </a:ext>
            </a:extLst>
          </p:cNvPr>
          <p:cNvSpPr txBox="1"/>
          <p:nvPr/>
        </p:nvSpPr>
        <p:spPr>
          <a:xfrm>
            <a:off x="2095500" y="274384"/>
            <a:ext cx="7830479" cy="100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72"/>
              </a:lnSpc>
              <a:spcBef>
                <a:spcPct val="0"/>
              </a:spcBef>
            </a:pPr>
            <a:r>
              <a:rPr lang="en-US" sz="5900" b="1" dirty="0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3D </a:t>
            </a:r>
            <a:r>
              <a:rPr lang="en-US" sz="5900" b="1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Map Excel</a:t>
            </a:r>
            <a:r>
              <a:rPr lang="en-US" sz="5900" b="1" dirty="0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98628AD-4692-6A96-2BE4-BF57FAE10045}"/>
              </a:ext>
            </a:extLst>
          </p:cNvPr>
          <p:cNvSpPr/>
          <p:nvPr/>
        </p:nvSpPr>
        <p:spPr>
          <a:xfrm flipH="1">
            <a:off x="14811104" y="-26221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0BABC62-8AFD-CAA5-5DE9-28C844577BD8}"/>
              </a:ext>
            </a:extLst>
          </p:cNvPr>
          <p:cNvSpPr/>
          <p:nvPr/>
        </p:nvSpPr>
        <p:spPr>
          <a:xfrm>
            <a:off x="123831" y="343535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F084F33-9ABE-2939-4572-4C5B6CD2F874}"/>
              </a:ext>
            </a:extLst>
          </p:cNvPr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687A317-5CD4-EAD6-8600-F16BDB154467}"/>
                </a:ext>
              </a:extLst>
            </p:cNvPr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B0C124A-1C78-0EA3-E373-694645C06F72}"/>
                </a:ext>
              </a:extLst>
            </p:cNvPr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pic>
        <p:nvPicPr>
          <p:cNvPr id="3" name="3D_map_chicago">
            <a:hlinkClick r:id="" action="ppaction://media"/>
            <a:extLst>
              <a:ext uri="{FF2B5EF4-FFF2-40B4-BE49-F238E27FC236}">
                <a16:creationId xmlns:a16="http://schemas.microsoft.com/office/drawing/2014/main" id="{908DABFF-3726-A557-6195-4781E240697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53556" y="1484539"/>
            <a:ext cx="10638398" cy="77589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B6FEC8-642C-B18C-B57B-6BE7DA260FFD}"/>
              </a:ext>
            </a:extLst>
          </p:cNvPr>
          <p:cNvSpPr txBox="1"/>
          <p:nvPr/>
        </p:nvSpPr>
        <p:spPr>
          <a:xfrm>
            <a:off x="11307536" y="1483178"/>
            <a:ext cx="6640286" cy="85561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Combines spatial (location) and temporal (time) data to show how crime patterns change across Chicago over time</a:t>
            </a:r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Displays crime locations across Chicago using a 3D map  </a:t>
            </a:r>
            <a:endParaRPr lang="en-US" sz="2800" dirty="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Taller bars represent areas with higher crime counts  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Shows where crime is concentrated = hotspots  </a:t>
            </a:r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Different colors represent different crime types  </a:t>
            </a:r>
            <a:endParaRPr lang="en-US" sz="2800" dirty="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Helps visualize patterns by location and </a:t>
            </a:r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over time  </a:t>
            </a:r>
            <a:endParaRPr lang="en-US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057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040BC-91E1-C528-B972-94B9C294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E3776A2-287B-D6D7-F5BA-C9906877EBED}"/>
              </a:ext>
            </a:extLst>
          </p:cNvPr>
          <p:cNvSpPr txBox="1"/>
          <p:nvPr/>
        </p:nvSpPr>
        <p:spPr>
          <a:xfrm>
            <a:off x="1891393" y="244211"/>
            <a:ext cx="14034710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272"/>
              </a:lnSpc>
              <a:spcBef>
                <a:spcPct val="0"/>
              </a:spcBef>
            </a:pPr>
            <a:r>
              <a:rPr lang="en-US" sz="5900" b="1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CRIME TYPES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8D4C35A-FB5E-6E47-BF5C-16D3129FA1E0}"/>
              </a:ext>
            </a:extLst>
          </p:cNvPr>
          <p:cNvSpPr/>
          <p:nvPr/>
        </p:nvSpPr>
        <p:spPr>
          <a:xfrm flipH="1">
            <a:off x="14811104" y="-26221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11B2FD6-E27C-B7A1-48FC-C0FB5368F402}"/>
              </a:ext>
            </a:extLst>
          </p:cNvPr>
          <p:cNvSpPr/>
          <p:nvPr/>
        </p:nvSpPr>
        <p:spPr>
          <a:xfrm>
            <a:off x="110224" y="309517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9CE45CE-BE1F-CF79-E418-041498346C36}"/>
              </a:ext>
            </a:extLst>
          </p:cNvPr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812B9BB-4CC6-3B47-550D-695C8A5C4E9E}"/>
                </a:ext>
              </a:extLst>
            </p:cNvPr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9202CB5-EA60-9118-D3E6-6A8F036E3EE7}"/>
                </a:ext>
              </a:extLst>
            </p:cNvPr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794BE8F-F5F8-A59F-6631-BA34677866DC}"/>
              </a:ext>
            </a:extLst>
          </p:cNvPr>
          <p:cNvSpPr txBox="1"/>
          <p:nvPr/>
        </p:nvSpPr>
        <p:spPr>
          <a:xfrm>
            <a:off x="11631386" y="1917247"/>
            <a:ext cx="6657704" cy="61247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Theft is the most common crime across all times of day  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Battery is the second most frequent crime 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Criminal damage is also consistently high</a:t>
            </a:r>
          </a:p>
          <a:p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  </a:t>
            </a:r>
            <a:endParaRPr lang="en-US" sz="2800" dirty="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Crime types vary depending on the time of day  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Certain crimes increase during afternoon and evening hours  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</p:txBody>
      </p:sp>
      <p:pic>
        <p:nvPicPr>
          <p:cNvPr id="3" name="Picture 2" descr="Screenshot 2026-05-04 at 12.25.54 AM.png">
            <a:extLst>
              <a:ext uri="{FF2B5EF4-FFF2-40B4-BE49-F238E27FC236}">
                <a16:creationId xmlns:a16="http://schemas.microsoft.com/office/drawing/2014/main" id="{A4FDA153-AF05-FF3F-B252-FF561E2AB8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34" t="3570" r="-9388" b="4966"/>
          <a:stretch>
            <a:fillRect/>
          </a:stretch>
        </p:blipFill>
        <p:spPr>
          <a:xfrm>
            <a:off x="220436" y="1508313"/>
            <a:ext cx="12417529" cy="726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9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C0603-B3BE-3F92-64FF-9B4846C6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359BA7C-902F-7A74-0BE0-CD9F54D690A4}"/>
              </a:ext>
            </a:extLst>
          </p:cNvPr>
          <p:cNvSpPr txBox="1"/>
          <p:nvPr/>
        </p:nvSpPr>
        <p:spPr>
          <a:xfrm>
            <a:off x="1891393" y="291836"/>
            <a:ext cx="14034710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272"/>
              </a:lnSpc>
              <a:spcBef>
                <a:spcPct val="0"/>
              </a:spcBef>
            </a:pPr>
            <a:r>
              <a:rPr lang="en-US" sz="5900" b="1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CRIME FREQUENCY BY TIME OF DAY</a:t>
            </a:r>
            <a:endParaRPr lang="en-US" sz="5900" b="1">
              <a:solidFill>
                <a:srgbClr val="FFFFFF"/>
              </a:solidFill>
              <a:latin typeface="Canva Sans"/>
              <a:ea typeface="Open Sauce Bold"/>
              <a:cs typeface="Open Sauce Bold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9E4F565-0B49-F692-05BA-CB12DDE6DCE4}"/>
              </a:ext>
            </a:extLst>
          </p:cNvPr>
          <p:cNvSpPr/>
          <p:nvPr/>
        </p:nvSpPr>
        <p:spPr>
          <a:xfrm flipH="1">
            <a:off x="14811104" y="-26221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36B925D-D478-6E65-15DB-FE78AF66EB27}"/>
              </a:ext>
            </a:extLst>
          </p:cNvPr>
          <p:cNvSpPr/>
          <p:nvPr/>
        </p:nvSpPr>
        <p:spPr>
          <a:xfrm>
            <a:off x="96616" y="343535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43605C5-14B1-ADA7-109C-4250A25807F7}"/>
              </a:ext>
            </a:extLst>
          </p:cNvPr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F378A2-A937-1B7A-20FE-E4E120A00AD1}"/>
                </a:ext>
              </a:extLst>
            </p:cNvPr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0FD39D2-D1DE-1EAB-B729-D7E9EB322486}"/>
                </a:ext>
              </a:extLst>
            </p:cNvPr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9601D54-3229-9E4F-10A6-859E7F9AB48A}"/>
              </a:ext>
            </a:extLst>
          </p:cNvPr>
          <p:cNvSpPr txBox="1"/>
          <p:nvPr/>
        </p:nvSpPr>
        <p:spPr>
          <a:xfrm>
            <a:off x="10623097" y="1990675"/>
            <a:ext cx="7666265" cy="74174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Crime frequency varies across different times of the day  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Evening has the highest crime rate ~31.5%  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Afternoon is also high and very close to evening ~31.2%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Morning shows moderate crime levels ~20%  </a:t>
            </a:r>
            <a:endParaRPr lang="en-US" sz="280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Late night has the lowest crime activity ~17% </a:t>
            </a:r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endParaRPr lang="en-US" sz="2800" dirty="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Crime is more concentrated during active daytime/evening hours  </a:t>
            </a:r>
            <a:endParaRPr lang="en-US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537BFB-F921-D9CE-A9B9-D74ACFCCB7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11" t="91" r="-49943" b="3971"/>
          <a:stretch>
            <a:fillRect/>
          </a:stretch>
        </p:blipFill>
        <p:spPr>
          <a:xfrm>
            <a:off x="96618" y="1830160"/>
            <a:ext cx="16003906" cy="68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63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D6F8A-2713-1B4C-DF52-8F83852D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4080350-A677-3CE7-7FA8-017EEFCC7A85}"/>
              </a:ext>
            </a:extLst>
          </p:cNvPr>
          <p:cNvSpPr txBox="1"/>
          <p:nvPr/>
        </p:nvSpPr>
        <p:spPr>
          <a:xfrm>
            <a:off x="1428750" y="291836"/>
            <a:ext cx="14034710" cy="989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72"/>
              </a:lnSpc>
              <a:spcBef>
                <a:spcPct val="0"/>
              </a:spcBef>
            </a:pPr>
            <a:r>
              <a:rPr lang="en-US" sz="5900" b="1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CRIME TRENDS OVER TIME</a:t>
            </a:r>
            <a:r>
              <a:rPr lang="en-US" sz="59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8994928-BFCF-20D0-FDE7-1982B2265338}"/>
              </a:ext>
            </a:extLst>
          </p:cNvPr>
          <p:cNvSpPr/>
          <p:nvPr/>
        </p:nvSpPr>
        <p:spPr>
          <a:xfrm flipH="1">
            <a:off x="14811104" y="-26221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015936E-99AC-609B-BDB5-3EE1F70F3C56}"/>
              </a:ext>
            </a:extLst>
          </p:cNvPr>
          <p:cNvSpPr/>
          <p:nvPr/>
        </p:nvSpPr>
        <p:spPr>
          <a:xfrm>
            <a:off x="-610955" y="343535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F0FA390-4D8D-74F3-536E-62DC16E06CE3}"/>
              </a:ext>
            </a:extLst>
          </p:cNvPr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1CFADE8-0C07-9B76-AAC6-B7D22C158D2A}"/>
                </a:ext>
              </a:extLst>
            </p:cNvPr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B39799C-80DE-F01D-E98C-E8BA0870B623}"/>
                </a:ext>
              </a:extLst>
            </p:cNvPr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0DEE90D-9C2B-4186-01E4-132D69B18C70}"/>
              </a:ext>
            </a:extLst>
          </p:cNvPr>
          <p:cNvSpPr txBox="1"/>
          <p:nvPr/>
        </p:nvSpPr>
        <p:spPr>
          <a:xfrm>
            <a:off x="208643" y="1676018"/>
            <a:ext cx="4808765" cy="65556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Crime levels show a general downward trend over time  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There is a noticeable decline after the early 2000s  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Crime rates become more stable in recent years  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The sharp drop in the final year is likely due to 2026 not being over yet.</a:t>
            </a:r>
          </a:p>
        </p:txBody>
      </p:sp>
      <p:pic>
        <p:nvPicPr>
          <p:cNvPr id="3" name="Picture 2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4EA57B40-C59B-9F3D-C753-C1AA745373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53" r="-41" b="5361"/>
          <a:stretch>
            <a:fillRect/>
          </a:stretch>
        </p:blipFill>
        <p:spPr>
          <a:xfrm>
            <a:off x="5202691" y="1279071"/>
            <a:ext cx="12578988" cy="842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2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17E8C-A002-98FD-E4A3-50233142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2650CFE-E395-076A-3462-2F8B653B4520}"/>
              </a:ext>
            </a:extLst>
          </p:cNvPr>
          <p:cNvSpPr txBox="1"/>
          <p:nvPr/>
        </p:nvSpPr>
        <p:spPr>
          <a:xfrm>
            <a:off x="1469571" y="271426"/>
            <a:ext cx="14034710" cy="9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72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Canva Sans"/>
                <a:ea typeface="+mn-lt"/>
                <a:cs typeface="+mn-lt"/>
              </a:rPr>
              <a:t>CRIME HOTSPOTS BY LOCATION</a:t>
            </a:r>
            <a:endParaRPr lang="en-US">
              <a:latin typeface="Canva Sans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45DFA95-8875-2AF5-66DA-9DBBEDCF1042}"/>
              </a:ext>
            </a:extLst>
          </p:cNvPr>
          <p:cNvSpPr/>
          <p:nvPr/>
        </p:nvSpPr>
        <p:spPr>
          <a:xfrm flipH="1">
            <a:off x="15178497" y="-231598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11C4998-8564-16C5-AF36-CA1F06A02538}"/>
              </a:ext>
            </a:extLst>
          </p:cNvPr>
          <p:cNvSpPr/>
          <p:nvPr/>
        </p:nvSpPr>
        <p:spPr>
          <a:xfrm>
            <a:off x="-610955" y="343535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697B331-3D82-A9FF-5100-BD6A12ED78DF}"/>
              </a:ext>
            </a:extLst>
          </p:cNvPr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B24582D-C3C0-E7DF-124F-53215248D08A}"/>
                </a:ext>
              </a:extLst>
            </p:cNvPr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8BB5749-4BCF-9B56-8DE2-1B7B4758E080}"/>
                </a:ext>
              </a:extLst>
            </p:cNvPr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90994FE-2D11-A3E6-9C10-8B3E35A0E7D8}"/>
              </a:ext>
            </a:extLst>
          </p:cNvPr>
          <p:cNvSpPr txBox="1"/>
          <p:nvPr/>
        </p:nvSpPr>
        <p:spPr>
          <a:xfrm>
            <a:off x="12017073" y="1956575"/>
            <a:ext cx="6657704" cy="68018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•</a:t>
            </a:r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 Darker areas represent higher crime concentration  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Crime is clustered in specific geographic locations (hotspots)  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Certain areas consistently show higher crime activity  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These hotspots indicate where crime is more frequent over time  </a:t>
            </a:r>
          </a:p>
          <a:p>
            <a:endParaRPr lang="en-US" sz="2800" dirty="0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r>
              <a:rPr lang="en-US" sz="28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• Helps identify locations that may need more attention or resources 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4" name="Picture 3" descr="A screenshot of a map&#10;&#10;AI-generated content may be incorrect.">
            <a:extLst>
              <a:ext uri="{FF2B5EF4-FFF2-40B4-BE49-F238E27FC236}">
                <a16:creationId xmlns:a16="http://schemas.microsoft.com/office/drawing/2014/main" id="{E73F6C4A-5FD1-9300-1CFD-B90222531B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429" t="-5278" r="-22073" b="-1548"/>
          <a:stretch>
            <a:fillRect/>
          </a:stretch>
        </p:blipFill>
        <p:spPr>
          <a:xfrm>
            <a:off x="207790" y="1019993"/>
            <a:ext cx="14805438" cy="868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34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44073">
                <a:alpha val="100000"/>
              </a:srgbClr>
            </a:gs>
            <a:gs pos="100000">
              <a:srgbClr val="78037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ACA16-2974-8FEA-AD8E-5EEE396AC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8D88986-F0E8-509F-AC65-1D6C243556F7}"/>
              </a:ext>
            </a:extLst>
          </p:cNvPr>
          <p:cNvSpPr txBox="1"/>
          <p:nvPr/>
        </p:nvSpPr>
        <p:spPr>
          <a:xfrm>
            <a:off x="2286000" y="203390"/>
            <a:ext cx="14034710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72"/>
              </a:lnSpc>
              <a:spcBef>
                <a:spcPct val="0"/>
              </a:spcBef>
            </a:pPr>
            <a:r>
              <a:rPr lang="en-US" sz="5900" b="1">
                <a:solidFill>
                  <a:srgbClr val="FFFFFF"/>
                </a:solidFill>
                <a:latin typeface="Canva Sans"/>
                <a:ea typeface="Open Sauce Bold"/>
                <a:cs typeface="Open Sauce Bold"/>
                <a:sym typeface="Open Sauce Bold"/>
              </a:rPr>
              <a:t>Top 5 Crime Types 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094D0A1-7598-E8FB-7BBE-EEDD52831517}"/>
              </a:ext>
            </a:extLst>
          </p:cNvPr>
          <p:cNvSpPr/>
          <p:nvPr/>
        </p:nvSpPr>
        <p:spPr>
          <a:xfrm flipH="1">
            <a:off x="14811104" y="-262214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A2E4DC9-29BA-F3F7-C6D3-9904CA6E278D}"/>
              </a:ext>
            </a:extLst>
          </p:cNvPr>
          <p:cNvSpPr/>
          <p:nvPr/>
        </p:nvSpPr>
        <p:spPr>
          <a:xfrm>
            <a:off x="96616" y="329928"/>
            <a:ext cx="1639655" cy="859088"/>
          </a:xfrm>
          <a:custGeom>
            <a:avLst/>
            <a:gdLst/>
            <a:ahLst/>
            <a:cxnLst/>
            <a:rect l="l" t="t" r="r" b="b"/>
            <a:pathLst>
              <a:path w="1639655" h="859088">
                <a:moveTo>
                  <a:pt x="0" y="0"/>
                </a:moveTo>
                <a:lnTo>
                  <a:pt x="1639655" y="0"/>
                </a:lnTo>
                <a:lnTo>
                  <a:pt x="1639655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998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215AD22-671B-2C47-A2EF-9C58F29B8DA6}"/>
              </a:ext>
            </a:extLst>
          </p:cNvPr>
          <p:cNvGrpSpPr/>
          <p:nvPr/>
        </p:nvGrpSpPr>
        <p:grpSpPr>
          <a:xfrm>
            <a:off x="0" y="9456681"/>
            <a:ext cx="18288000" cy="830319"/>
            <a:chOff x="0" y="0"/>
            <a:chExt cx="4816593" cy="21868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49FBE72-1E12-B837-17D5-25D5917135C6}"/>
                </a:ext>
              </a:extLst>
            </p:cNvPr>
            <p:cNvSpPr/>
            <p:nvPr/>
          </p:nvSpPr>
          <p:spPr>
            <a:xfrm>
              <a:off x="0" y="0"/>
              <a:ext cx="4816592" cy="218685"/>
            </a:xfrm>
            <a:custGeom>
              <a:avLst/>
              <a:gdLst/>
              <a:ahLst/>
              <a:cxnLst/>
              <a:rect l="l" t="t" r="r" b="b"/>
              <a:pathLst>
                <a:path w="4816592" h="218685">
                  <a:moveTo>
                    <a:pt x="0" y="0"/>
                  </a:moveTo>
                  <a:lnTo>
                    <a:pt x="4816592" y="0"/>
                  </a:lnTo>
                  <a:lnTo>
                    <a:pt x="4816592" y="218685"/>
                  </a:lnTo>
                  <a:lnTo>
                    <a:pt x="0" y="218685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E375DD6-3CBF-A70F-BB29-F2A652E469B8}"/>
                </a:ext>
              </a:extLst>
            </p:cNvPr>
            <p:cNvSpPr txBox="1"/>
            <p:nvPr/>
          </p:nvSpPr>
          <p:spPr>
            <a:xfrm>
              <a:off x="0" y="-38100"/>
              <a:ext cx="4816593" cy="2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9AC642D-C1C3-375D-2D3B-3123E2293F6D}"/>
              </a:ext>
            </a:extLst>
          </p:cNvPr>
          <p:cNvSpPr txBox="1"/>
          <p:nvPr/>
        </p:nvSpPr>
        <p:spPr>
          <a:xfrm>
            <a:off x="2745921" y="6485748"/>
            <a:ext cx="16685253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Theft is the most common crime by a large margin  </a:t>
            </a:r>
            <a:endParaRPr lang="en-US" sz="3600" dirty="0">
              <a:solidFill>
                <a:schemeClr val="bg1"/>
              </a:solidFill>
              <a:latin typeface="Canva Sans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Battery is the second most frequent crime  </a:t>
            </a:r>
            <a:endParaRPr lang="en-US">
              <a:solidFill>
                <a:schemeClr val="bg1"/>
              </a:solidFill>
              <a:latin typeface="Canva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Criminal damage ranks third among reported crimes  </a:t>
            </a:r>
            <a:endParaRPr lang="en-US">
              <a:solidFill>
                <a:schemeClr val="bg1"/>
              </a:solidFill>
              <a:latin typeface="Canva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 Narcotics and assault also appear frequently </a:t>
            </a:r>
            <a:endParaRPr lang="en-US">
              <a:solidFill>
                <a:schemeClr val="bg1"/>
              </a:solidFill>
              <a:latin typeface="Canva Sans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Canva Sans"/>
                <a:ea typeface="+mn-lt"/>
                <a:cs typeface="+mn-lt"/>
              </a:rPr>
              <a:t> These top categories make up a large portion of total crimes 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3" name="Picture 2" descr="Screenshot 2026-05-04 at 12.26.15 AM.png">
            <a:extLst>
              <a:ext uri="{FF2B5EF4-FFF2-40B4-BE49-F238E27FC236}">
                <a16:creationId xmlns:a16="http://schemas.microsoft.com/office/drawing/2014/main" id="{CA90F905-CAB1-C7BC-7526-D5DC5C2EE8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47" t="-250" r="-22063" b="52624"/>
          <a:stretch>
            <a:fillRect/>
          </a:stretch>
        </p:blipFill>
        <p:spPr>
          <a:xfrm>
            <a:off x="1623572" y="1487058"/>
            <a:ext cx="18157366" cy="489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05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370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355380" y="599704"/>
            <a:ext cx="1119228" cy="1029405"/>
            <a:chOff x="0" y="0"/>
            <a:chExt cx="294776" cy="2711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4776" cy="271119"/>
            </a:xfrm>
            <a:custGeom>
              <a:avLst/>
              <a:gdLst/>
              <a:ahLst/>
              <a:cxnLst/>
              <a:rect l="l" t="t" r="r" b="b"/>
              <a:pathLst>
                <a:path w="294776" h="271119">
                  <a:moveTo>
                    <a:pt x="135560" y="0"/>
                  </a:moveTo>
                  <a:lnTo>
                    <a:pt x="159217" y="0"/>
                  </a:lnTo>
                  <a:cubicBezTo>
                    <a:pt x="234084" y="0"/>
                    <a:pt x="294776" y="60692"/>
                    <a:pt x="294776" y="135560"/>
                  </a:cubicBezTo>
                  <a:lnTo>
                    <a:pt x="294776" y="135560"/>
                  </a:lnTo>
                  <a:cubicBezTo>
                    <a:pt x="294776" y="171512"/>
                    <a:pt x="280494" y="205992"/>
                    <a:pt x="255072" y="231415"/>
                  </a:cubicBezTo>
                  <a:cubicBezTo>
                    <a:pt x="229649" y="256837"/>
                    <a:pt x="195169" y="271119"/>
                    <a:pt x="159217" y="271119"/>
                  </a:cubicBezTo>
                  <a:lnTo>
                    <a:pt x="135560" y="271119"/>
                  </a:lnTo>
                  <a:cubicBezTo>
                    <a:pt x="60692" y="271119"/>
                    <a:pt x="0" y="210427"/>
                    <a:pt x="0" y="135560"/>
                  </a:cubicBezTo>
                  <a:lnTo>
                    <a:pt x="0" y="135560"/>
                  </a:lnTo>
                  <a:cubicBezTo>
                    <a:pt x="0" y="60692"/>
                    <a:pt x="60692" y="0"/>
                    <a:pt x="1355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44073">
                    <a:alpha val="100000"/>
                  </a:srgbClr>
                </a:gs>
                <a:gs pos="100000">
                  <a:srgbClr val="78037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4776" cy="309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536174" y="729330"/>
            <a:ext cx="757638" cy="770153"/>
          </a:xfrm>
          <a:custGeom>
            <a:avLst/>
            <a:gdLst/>
            <a:ahLst/>
            <a:cxnLst/>
            <a:rect l="l" t="t" r="r" b="b"/>
            <a:pathLst>
              <a:path w="757638" h="770153">
                <a:moveTo>
                  <a:pt x="0" y="0"/>
                </a:moveTo>
                <a:lnTo>
                  <a:pt x="757639" y="0"/>
                </a:lnTo>
                <a:lnTo>
                  <a:pt x="757639" y="770154"/>
                </a:lnTo>
                <a:lnTo>
                  <a:pt x="0" y="770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4559681" cy="10287000"/>
            <a:chOff x="0" y="0"/>
            <a:chExt cx="1200904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00904" cy="2709333"/>
            </a:xfrm>
            <a:custGeom>
              <a:avLst/>
              <a:gdLst/>
              <a:ahLst/>
              <a:cxnLst/>
              <a:rect l="l" t="t" r="r" b="b"/>
              <a:pathLst>
                <a:path w="1200904" h="2709333">
                  <a:moveTo>
                    <a:pt x="0" y="0"/>
                  </a:moveTo>
                  <a:lnTo>
                    <a:pt x="1200904" y="0"/>
                  </a:lnTo>
                  <a:lnTo>
                    <a:pt x="120090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44073">
                    <a:alpha val="100000"/>
                  </a:srgbClr>
                </a:gs>
                <a:gs pos="100000">
                  <a:srgbClr val="78037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0090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2279840" cy="10287000"/>
            <a:chOff x="0" y="0"/>
            <a:chExt cx="600452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0452" cy="2709333"/>
            </a:xfrm>
            <a:custGeom>
              <a:avLst/>
              <a:gdLst/>
              <a:ahLst/>
              <a:cxnLst/>
              <a:rect l="l" t="t" r="r" b="b"/>
              <a:pathLst>
                <a:path w="600452" h="2709333">
                  <a:moveTo>
                    <a:pt x="0" y="0"/>
                  </a:moveTo>
                  <a:lnTo>
                    <a:pt x="600452" y="0"/>
                  </a:lnTo>
                  <a:lnTo>
                    <a:pt x="60045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0045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50332" y="2234151"/>
            <a:ext cx="5818698" cy="581869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3714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 flipH="1">
            <a:off x="-1283697" y="805284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flipH="1">
            <a:off x="14772654" y="-213326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773703" y="599156"/>
            <a:ext cx="2623170" cy="859088"/>
          </a:xfrm>
          <a:custGeom>
            <a:avLst/>
            <a:gdLst/>
            <a:ahLst/>
            <a:cxnLst/>
            <a:rect l="l" t="t" r="r" b="b"/>
            <a:pathLst>
              <a:path w="2623170" h="859088">
                <a:moveTo>
                  <a:pt x="0" y="0"/>
                </a:moveTo>
                <a:lnTo>
                  <a:pt x="2623170" y="0"/>
                </a:lnTo>
                <a:lnTo>
                  <a:pt x="2623170" y="859088"/>
                </a:lnTo>
                <a:lnTo>
                  <a:pt x="0" y="85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345659" y="3142981"/>
            <a:ext cx="9639300" cy="1278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925"/>
              </a:lnSpc>
              <a:spcBef>
                <a:spcPct val="0"/>
              </a:spcBef>
            </a:pPr>
            <a:r>
              <a:rPr lang="en-US" sz="7803" b="1">
                <a:solidFill>
                  <a:schemeClr val="bg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55380" y="8455217"/>
            <a:ext cx="2280224" cy="21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6"/>
              </a:lnSpc>
              <a:spcBef>
                <a:spcPct val="0"/>
              </a:spcBef>
            </a:pPr>
            <a:r>
              <a:rPr lang="en-US" sz="12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96443" y="8455217"/>
            <a:ext cx="2280224" cy="21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6"/>
              </a:lnSpc>
              <a:spcBef>
                <a:spcPct val="0"/>
              </a:spcBef>
            </a:pPr>
            <a:r>
              <a:rPr lang="en-US" sz="12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Resources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7562479" y="5582855"/>
            <a:ext cx="2279840" cy="4704145"/>
            <a:chOff x="0" y="0"/>
            <a:chExt cx="600452" cy="12389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00452" cy="1238952"/>
            </a:xfrm>
            <a:custGeom>
              <a:avLst/>
              <a:gdLst/>
              <a:ahLst/>
              <a:cxnLst/>
              <a:rect l="l" t="t" r="r" b="b"/>
              <a:pathLst>
                <a:path w="600452" h="1238952">
                  <a:moveTo>
                    <a:pt x="0" y="0"/>
                  </a:moveTo>
                  <a:lnTo>
                    <a:pt x="600452" y="0"/>
                  </a:lnTo>
                  <a:lnTo>
                    <a:pt x="600452" y="1238952"/>
                  </a:lnTo>
                  <a:lnTo>
                    <a:pt x="0" y="1238952"/>
                  </a:lnTo>
                  <a:close/>
                </a:path>
              </a:pathLst>
            </a:custGeom>
            <a:gradFill rotWithShape="1">
              <a:gsLst>
                <a:gs pos="0">
                  <a:srgbClr val="99ADFF">
                    <a:alpha val="100000"/>
                  </a:srgbClr>
                </a:gs>
                <a:gs pos="100000">
                  <a:srgbClr val="344073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600452" cy="1277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8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1223F6-F09D-0D20-588D-E83CA6A14D42}"/>
              </a:ext>
            </a:extLst>
          </p:cNvPr>
          <p:cNvSpPr txBox="1"/>
          <p:nvPr/>
        </p:nvSpPr>
        <p:spPr>
          <a:xfrm>
            <a:off x="10124872" y="4750340"/>
            <a:ext cx="62743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latin typeface="Canva Sans"/>
                <a:ea typeface="Calibri"/>
                <a:cs typeface="Calibri"/>
              </a:rPr>
              <a:t>Questions?</a:t>
            </a:r>
            <a:endParaRPr lang="en-US" sz="2800">
              <a:solidFill>
                <a:schemeClr val="bg1"/>
              </a:solidFill>
              <a:latin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Chicago Crime Patterns Overview</dc:title>
  <cp:revision>560</cp:revision>
  <dcterms:created xsi:type="dcterms:W3CDTF">2006-08-16T00:00:00Z</dcterms:created>
  <dcterms:modified xsi:type="dcterms:W3CDTF">2026-05-04T22:28:22Z</dcterms:modified>
  <dc:identifier>DAHIregw5VQ</dc:identifier>
</cp:coreProperties>
</file>